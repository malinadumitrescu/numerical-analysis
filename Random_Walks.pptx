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371" autoAdjust="0"/>
  </p:normalViewPr>
  <p:slideViewPr>
    <p:cSldViewPr snapToGrid="0" snapToObjects="1">
      <p:cViewPr varScale="1">
        <p:scale>
          <a:sx n="63" d="100"/>
          <a:sy n="6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AED7A-E0EA-4485-A809-CB2D7CDB6EA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50347-F1CD-49BF-866B-1EBFF9C51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30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 — Titel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heute präsentiere ich das Thema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Walks im Kontext von Time Series Forecasting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Ich erkläre zuerst kurz die Idee eines Random Walks und zeige danach konkrete Experimente aus meinem Jupyter Notebook, mit Simulationen, Grafiken und Ergebnissen.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48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2 — Was ist ein Random Walk?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Random Walk ist ein einfaches stochastisches Modell.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aktuelle Wert hängt vom vorherigen Wert ab, plus einem zufälligen Fehlerterm.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Mathematisch: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 = X_{t-1} +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bedeutet: Jeder neue Wert entsteht aus dem letzten Wert plus einem zufälligen Schock. Dieser Schock kann positiv oder negativ sein.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Solche Modelle sind wichtig, weil sie zeigen, warum zum Beispiel Preise oder Aktienkurse schwer vorherzusagen sind.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225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3 — Einzelner Random Walk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meinem Notebook habe ich zuerst einen einfachen Random Walk simuliert.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Dafür habe ich normalverteilte Zufallswerte erzeugt und Schritt für Schritt aufsummiert.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Mit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np.random.seed(42)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sind die Ergebnisse reproduzierbar.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der Grafik sieht man, dass die Kurve manchmal wie ein echter Trend aussieht.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dieser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Verlauf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entsteht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durch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zufällige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Schritte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letzte simulierte Wert liegt ungefähr bei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-8.65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Das zeigt, dass sich die Reihe langfristig stark vom Startwert entfernen kann.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9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4 — Mehrere Random Walks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Danach habe ich mehrere Random-Walk-Pfade simuliert.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Alle starten am gleichen Punkt, entwickeln sich aber sehr unterschiedlich. Manche Pfade steigen, andere fallen, andere bewegen sich seitwärts.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zeigt: Kleine zufällige Unterschiede können langfristig große Auswirkungen haben.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deshalb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Random Walks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langfristig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schwer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prognostizieren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73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5 — Stationarität und ADF-Test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wichtiger Begriff bei Zeitreihen ist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Stationarität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Eine stationäre Zeitreihe hat über die Zeit ungefähr konstante Eigenschaften, zum Beispiel Mittelwert und Varianz.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Random Walk ist normalerweise nicht stationär, weil sich die Unsicherheit mit der Zeit vergrößert.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Notebook habe ich den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Augmented-Dickey-Fuller-Test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verwendet.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Ergebnisse waren: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ADF Statistic: -2.3073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p-value: 0.1696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 der p-Wert größer als 0.05 ist, wirkt die Reihe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nicht stationär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6 — Differencing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das Problem zu behandeln, habe ich die erste Differenz gebildet: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Δ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 = X_t - X_{t-1}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 einem Random Walk entspricht diese Differenz ungefähr dem zufälligen Fehlerterm.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Nach dem Differenzieren waren die ADF-Ergebnisse: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ADF Statistic: -14.6918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p-value: ungefähr 0.0000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p-Wert ist jetzt kleiner als 0.05. Deshalb wirkt die differenzierte Reihe stationär.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ist wichtig für Forecasting-Modelle wie ARIMA.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29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7 — Naive Forecast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Für Random Walks ist ein sehr wichtiger Forecast der 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naive Forecast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Idee ist einfach: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nächste Wert ist gleich dem letzten beobachteten Wert.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X̂_{t+1} = X_t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 Notebook habe ich diesen Forecast auf Testdaten angewendet.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Ergebnisse waren: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MAE: 0.7239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RMSE: 0.9033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naive Forecast ist also sehr einfach, aber trotzdem ein wichtiger Baseline-Vergleich.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18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8 — Random Walk mit Drift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Danach habe ich einen Random Walk mit Drift betrachtet.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Formel lautet: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X_t = X_{t-1} +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ε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_t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Parameter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beschreibt eine durchschnittliche Richtung.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Wenn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positiv ist, steigt die Reihe im Durchschnitt. Wenn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negativ ist, fällt sie im Durchschnitt.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meinem Experiment wurde ein positiver Drift simuliert. Deshalb sieht die Reihe insgesamt steigender aus.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08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9 — Forecast mit Drift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Für einen Random Walk mit Drift kann man den Forecast erweitern.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Formel lautet: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X̂_{t+1} = X_t +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̂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Drift wird aus den Trainingsdaten geschätzt.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meinem Notebook war der geschätzte Drift: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μ</a:t>
            </a: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̂ = 0.2528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Ergebnisse des Forecasts mit Drift waren: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MAE: 0.8434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RMSE: 1.0422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zeigt: Der Drift modelliert eine durchschnittliche Richtung, aber die zufälligen Schocks bleiben unbekannt.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4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10 — Langfristige Unsicherheit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Zum Schluss habe ich langfristige Forecasts simuliert.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Dafür habe ich vom letzten beobachteten Wert aus viele mögliche zukünftige Random-Walk-Pfade erzeugt.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wichtigste Beobachtung ist: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 weiter wir in die Zukunft prognostizieren, desto größer wird die Unsicherheit.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Kurzfristig kann der letzte beobachtete Wert ein guter Forecast sein.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Langfristig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mögliche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Wertebereich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immer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breiter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623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11 — Fazit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Zusammenfassend: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Ein Random Walk ist ein einfaches, aber wichtiges Modell für Zeitreihen.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 zeigt, dass scheinbare Trends auch zufällig entstehen können.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Walks sind meistens nicht stationär, aber durch Differencing kann man sie besser analysieren.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Für Forecasting ist der naive Forecast ein wichtiger Baseline-Vergleich.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wichtigste Erkenntnis ist: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 Random Walks ist einfach nicht automatisch schlecht. Der letzte beobachtete Wert ist oft eine starke kurzfristige Prognose. Langfristig wächst aber die Unsicherheit deutlich.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Vielen Dank für eure Aufmerksamkeit.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0347-F1CD-49BF-866B-1EBFF9C511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9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4253F"/>
                </a:solidFill>
              </a:defRPr>
            </a:pPr>
            <a:r>
              <a:t>Random Walks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F6978"/>
                </a:solidFill>
              </a:defRPr>
            </a:pPr>
            <a:r>
              <a:rPr dirty="0"/>
              <a:t>Time Series Forecasting · </a:t>
            </a:r>
            <a:r>
              <a:rPr dirty="0" err="1"/>
              <a:t>Präsentation</a:t>
            </a:r>
            <a:r>
              <a:rPr dirty="0"/>
              <a:t> </a:t>
            </a:r>
            <a:r>
              <a:rPr dirty="0" err="1"/>
              <a:t>mit</a:t>
            </a:r>
            <a:r>
              <a:rPr dirty="0"/>
              <a:t> </a:t>
            </a:r>
            <a:r>
              <a:rPr dirty="0" err="1"/>
              <a:t>Experimenten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657600" y="2240280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0" y="24231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F6978"/>
                </a:solidFill>
              </a:defRPr>
            </a:pPr>
            <a:r>
              <a:t>Notebook-Setup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761488"/>
            <a:ext cx="4526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48F8C"/>
                </a:solidFill>
              </a:defRPr>
            </a:pPr>
            <a:r>
              <a:t>np.random.seed(42), n = 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7312" y="38862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4253F"/>
                </a:solidFill>
              </a:defRPr>
            </a:pPr>
            <a:r>
              <a:rPr dirty="0"/>
              <a:t>Simulation </a:t>
            </a:r>
            <a:r>
              <a:rPr dirty="0" err="1"/>
              <a:t>eines</a:t>
            </a:r>
            <a:r>
              <a:rPr dirty="0"/>
              <a:t> Random Walks</a:t>
            </a:r>
          </a:p>
          <a:p>
            <a:pPr>
              <a:spcAft>
                <a:spcPts val="600"/>
              </a:spcAft>
              <a:defRPr sz="1600">
                <a:solidFill>
                  <a:srgbClr val="14253F"/>
                </a:solidFill>
              </a:defRPr>
            </a:pPr>
            <a:r>
              <a:rPr dirty="0" err="1"/>
              <a:t>Stationaritätstest</a:t>
            </a:r>
            <a:r>
              <a:rPr dirty="0"/>
              <a:t> (ADF)</a:t>
            </a:r>
          </a:p>
          <a:p>
            <a:pPr>
              <a:spcAft>
                <a:spcPts val="600"/>
              </a:spcAft>
              <a:defRPr sz="1600">
                <a:solidFill>
                  <a:srgbClr val="14253F"/>
                </a:solidFill>
              </a:defRPr>
            </a:pPr>
            <a:r>
              <a:rPr dirty="0"/>
              <a:t>Naive Forecast + Drift Forecast</a:t>
            </a:r>
          </a:p>
          <a:p>
            <a:pPr>
              <a:spcAft>
                <a:spcPts val="600"/>
              </a:spcAft>
              <a:defRPr sz="1600">
                <a:solidFill>
                  <a:srgbClr val="14253F"/>
                </a:solidFill>
              </a:defRPr>
            </a:pPr>
            <a:r>
              <a:rPr dirty="0" err="1"/>
              <a:t>Langfristige</a:t>
            </a:r>
            <a:r>
              <a:rPr dirty="0"/>
              <a:t> </a:t>
            </a:r>
            <a:r>
              <a:rPr dirty="0" err="1"/>
              <a:t>Unsicherheit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1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E48BF8B-D888-1534-98D3-E452D00641BB}"/>
              </a:ext>
            </a:extLst>
          </p:cNvPr>
          <p:cNvGrpSpPr/>
          <p:nvPr/>
        </p:nvGrpSpPr>
        <p:grpSpPr>
          <a:xfrm>
            <a:off x="5121775" y="3668990"/>
            <a:ext cx="5671526" cy="1572768"/>
            <a:chOff x="713232" y="2816352"/>
            <a:chExt cx="8110728" cy="2606040"/>
          </a:xfrm>
        </p:grpSpPr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AA88BFB9-CA75-E7C2-6265-16211F6BFD78}"/>
                </a:ext>
              </a:extLst>
            </p:cNvPr>
            <p:cNvSpPr/>
            <p:nvPr/>
          </p:nvSpPr>
          <p:spPr>
            <a:xfrm>
              <a:off x="713232" y="2816352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Grundmodell</a:t>
              </a:r>
              <a:endParaRPr lang="en-US" sz="1050" dirty="0"/>
            </a:p>
          </p:txBody>
        </p:sp>
        <p:sp>
          <p:nvSpPr>
            <p:cNvPr id="49" name="Shape 5">
              <a:extLst>
                <a:ext uri="{FF2B5EF4-FFF2-40B4-BE49-F238E27FC236}">
                  <a16:creationId xmlns:a16="http://schemas.microsoft.com/office/drawing/2014/main" id="{2521654D-BAD9-0305-F30D-C593A89D066A}"/>
                </a:ext>
              </a:extLst>
            </p:cNvPr>
            <p:cNvSpPr/>
            <p:nvPr/>
          </p:nvSpPr>
          <p:spPr>
            <a:xfrm>
              <a:off x="713232" y="3063240"/>
              <a:ext cx="3840480" cy="1005840"/>
            </a:xfrm>
            <a:prstGeom prst="roundRect">
              <a:avLst>
                <a:gd name="adj" fmla="val 7273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0" name="Image 0" descr="preencoded.png">
              <a:extLst>
                <a:ext uri="{FF2B5EF4-FFF2-40B4-BE49-F238E27FC236}">
                  <a16:creationId xmlns:a16="http://schemas.microsoft.com/office/drawing/2014/main" id="{FC3E39B5-9207-718C-3301-572CDA8B9E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77824" y="3172968"/>
              <a:ext cx="3511296" cy="786384"/>
            </a:xfrm>
            <a:prstGeom prst="rect">
              <a:avLst/>
            </a:prstGeom>
          </p:spPr>
        </p:pic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624C236F-3354-A6BC-4A4A-C3E59B38AD91}"/>
                </a:ext>
              </a:extLst>
            </p:cNvPr>
            <p:cNvSpPr/>
            <p:nvPr/>
          </p:nvSpPr>
          <p:spPr>
            <a:xfrm>
              <a:off x="4800600" y="2816352"/>
              <a:ext cx="40233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Mit Drift</a:t>
              </a:r>
              <a:endParaRPr lang="en-US" sz="1050" dirty="0"/>
            </a:p>
          </p:txBody>
        </p:sp>
        <p:sp>
          <p:nvSpPr>
            <p:cNvPr id="52" name="Shape 7">
              <a:extLst>
                <a:ext uri="{FF2B5EF4-FFF2-40B4-BE49-F238E27FC236}">
                  <a16:creationId xmlns:a16="http://schemas.microsoft.com/office/drawing/2014/main" id="{1D08015D-A78F-5730-2636-660491BBC32F}"/>
                </a:ext>
              </a:extLst>
            </p:cNvPr>
            <p:cNvSpPr/>
            <p:nvPr/>
          </p:nvSpPr>
          <p:spPr>
            <a:xfrm>
              <a:off x="4800600" y="3063240"/>
              <a:ext cx="4023360" cy="1005840"/>
            </a:xfrm>
            <a:prstGeom prst="roundRect">
              <a:avLst>
                <a:gd name="adj" fmla="val 7273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3" name="Image 1" descr="preencoded.png">
              <a:extLst>
                <a:ext uri="{FF2B5EF4-FFF2-40B4-BE49-F238E27FC236}">
                  <a16:creationId xmlns:a16="http://schemas.microsoft.com/office/drawing/2014/main" id="{E266E13F-6A3E-20ED-AA80-68A10FE7EC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965192" y="3172968"/>
              <a:ext cx="3694176" cy="786384"/>
            </a:xfrm>
            <a:prstGeom prst="rect">
              <a:avLst/>
            </a:prstGeom>
          </p:spPr>
        </p:pic>
        <p:sp>
          <p:nvSpPr>
            <p:cNvPr id="54" name="Shape 8">
              <a:extLst>
                <a:ext uri="{FF2B5EF4-FFF2-40B4-BE49-F238E27FC236}">
                  <a16:creationId xmlns:a16="http://schemas.microsoft.com/office/drawing/2014/main" id="{6FFB5DDE-568D-3BFC-40D4-FB9E45F8EA20}"/>
                </a:ext>
              </a:extLst>
            </p:cNvPr>
            <p:cNvSpPr/>
            <p:nvPr/>
          </p:nvSpPr>
          <p:spPr>
            <a:xfrm>
              <a:off x="713232" y="4709160"/>
              <a:ext cx="1280160" cy="713232"/>
            </a:xfrm>
            <a:prstGeom prst="roundRect">
              <a:avLst>
                <a:gd name="adj" fmla="val 7692"/>
              </a:avLst>
            </a:prstGeom>
            <a:solidFill>
              <a:srgbClr val="F8FBFD"/>
            </a:solidFill>
            <a:ln w="8890">
              <a:solidFill>
                <a:srgbClr val="D0E4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9">
              <a:extLst>
                <a:ext uri="{FF2B5EF4-FFF2-40B4-BE49-F238E27FC236}">
                  <a16:creationId xmlns:a16="http://schemas.microsoft.com/office/drawing/2014/main" id="{E90D894B-ADCE-01D6-C433-EC51F1921E14}"/>
                </a:ext>
              </a:extLst>
            </p:cNvPr>
            <p:cNvSpPr/>
            <p:nvPr/>
          </p:nvSpPr>
          <p:spPr>
            <a:xfrm>
              <a:off x="786384" y="4782312"/>
              <a:ext cx="1133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D6B78"/>
                  </a:solidFill>
                </a:rPr>
                <a:t>Seed</a:t>
              </a:r>
              <a:endParaRPr lang="en-US" sz="850" dirty="0"/>
            </a:p>
          </p:txBody>
        </p:sp>
        <p:sp>
          <p:nvSpPr>
            <p:cNvPr id="56" name="Text 10">
              <a:extLst>
                <a:ext uri="{FF2B5EF4-FFF2-40B4-BE49-F238E27FC236}">
                  <a16:creationId xmlns:a16="http://schemas.microsoft.com/office/drawing/2014/main" id="{49E12E6F-B8B5-C308-8A19-36AC3DB3BBA9}"/>
                </a:ext>
              </a:extLst>
            </p:cNvPr>
            <p:cNvSpPr/>
            <p:nvPr/>
          </p:nvSpPr>
          <p:spPr>
            <a:xfrm>
              <a:off x="786384" y="5056632"/>
              <a:ext cx="11338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F80B7"/>
                  </a:solidFill>
                </a:rPr>
                <a:t>42</a:t>
              </a:r>
              <a:endParaRPr lang="en-US" sz="1500" dirty="0"/>
            </a:p>
          </p:txBody>
        </p:sp>
        <p:sp>
          <p:nvSpPr>
            <p:cNvPr id="57" name="Shape 11">
              <a:extLst>
                <a:ext uri="{FF2B5EF4-FFF2-40B4-BE49-F238E27FC236}">
                  <a16:creationId xmlns:a16="http://schemas.microsoft.com/office/drawing/2014/main" id="{B1AF99FF-F8BF-5D03-2414-4369758ABDC4}"/>
                </a:ext>
              </a:extLst>
            </p:cNvPr>
            <p:cNvSpPr/>
            <p:nvPr/>
          </p:nvSpPr>
          <p:spPr>
            <a:xfrm>
              <a:off x="2148840" y="4709160"/>
              <a:ext cx="1280160" cy="713232"/>
            </a:xfrm>
            <a:prstGeom prst="roundRect">
              <a:avLst>
                <a:gd name="adj" fmla="val 7692"/>
              </a:avLst>
            </a:prstGeom>
            <a:solidFill>
              <a:srgbClr val="F8FBFD"/>
            </a:solidFill>
            <a:ln w="8890">
              <a:solidFill>
                <a:srgbClr val="D0E4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 12">
              <a:extLst>
                <a:ext uri="{FF2B5EF4-FFF2-40B4-BE49-F238E27FC236}">
                  <a16:creationId xmlns:a16="http://schemas.microsoft.com/office/drawing/2014/main" id="{18BE6CD1-BDA3-B7E0-6A30-52D519AD038C}"/>
                </a:ext>
              </a:extLst>
            </p:cNvPr>
            <p:cNvSpPr/>
            <p:nvPr/>
          </p:nvSpPr>
          <p:spPr>
            <a:xfrm>
              <a:off x="2221992" y="4782312"/>
              <a:ext cx="1133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D6B78"/>
                  </a:solidFill>
                </a:rPr>
                <a:t>n</a:t>
              </a:r>
              <a:endParaRPr lang="en-US" sz="850" dirty="0"/>
            </a:p>
          </p:txBody>
        </p:sp>
        <p:sp>
          <p:nvSpPr>
            <p:cNvPr id="59" name="Text 13">
              <a:extLst>
                <a:ext uri="{FF2B5EF4-FFF2-40B4-BE49-F238E27FC236}">
                  <a16:creationId xmlns:a16="http://schemas.microsoft.com/office/drawing/2014/main" id="{5BAC1DBB-C9A7-D499-AD67-9647570FB6B2}"/>
                </a:ext>
              </a:extLst>
            </p:cNvPr>
            <p:cNvSpPr/>
            <p:nvPr/>
          </p:nvSpPr>
          <p:spPr>
            <a:xfrm>
              <a:off x="2221992" y="5056632"/>
              <a:ext cx="11338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F80B7"/>
                  </a:solidFill>
                </a:rPr>
                <a:t>200</a:t>
              </a:r>
              <a:endParaRPr lang="en-US" sz="1500" dirty="0"/>
            </a:p>
          </p:txBody>
        </p:sp>
        <p:sp>
          <p:nvSpPr>
            <p:cNvPr id="60" name="Shape 14">
              <a:extLst>
                <a:ext uri="{FF2B5EF4-FFF2-40B4-BE49-F238E27FC236}">
                  <a16:creationId xmlns:a16="http://schemas.microsoft.com/office/drawing/2014/main" id="{A1E7F522-B627-3FEB-3A58-F69900E0075F}"/>
                </a:ext>
              </a:extLst>
            </p:cNvPr>
            <p:cNvSpPr/>
            <p:nvPr/>
          </p:nvSpPr>
          <p:spPr>
            <a:xfrm>
              <a:off x="3584448" y="4709160"/>
              <a:ext cx="1280160" cy="713232"/>
            </a:xfrm>
            <a:prstGeom prst="roundRect">
              <a:avLst>
                <a:gd name="adj" fmla="val 7692"/>
              </a:avLst>
            </a:prstGeom>
            <a:solidFill>
              <a:srgbClr val="F8FBFD"/>
            </a:solidFill>
            <a:ln w="8890">
              <a:solidFill>
                <a:srgbClr val="D0E4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 15">
              <a:extLst>
                <a:ext uri="{FF2B5EF4-FFF2-40B4-BE49-F238E27FC236}">
                  <a16:creationId xmlns:a16="http://schemas.microsoft.com/office/drawing/2014/main" id="{1287A52E-B1BA-671D-5E40-920FCBD9B384}"/>
                </a:ext>
              </a:extLst>
            </p:cNvPr>
            <p:cNvSpPr/>
            <p:nvPr/>
          </p:nvSpPr>
          <p:spPr>
            <a:xfrm>
              <a:off x="3657600" y="4782312"/>
              <a:ext cx="113385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D6B78"/>
                  </a:solidFill>
                </a:rPr>
                <a:t>σ</a:t>
              </a:r>
              <a:endParaRPr lang="en-US" sz="850" dirty="0"/>
            </a:p>
          </p:txBody>
        </p:sp>
        <p:sp>
          <p:nvSpPr>
            <p:cNvPr id="62" name="Text 16">
              <a:extLst>
                <a:ext uri="{FF2B5EF4-FFF2-40B4-BE49-F238E27FC236}">
                  <a16:creationId xmlns:a16="http://schemas.microsoft.com/office/drawing/2014/main" id="{4647D904-D12A-19FE-3C40-107E4BA44285}"/>
                </a:ext>
              </a:extLst>
            </p:cNvPr>
            <p:cNvSpPr/>
            <p:nvPr/>
          </p:nvSpPr>
          <p:spPr>
            <a:xfrm>
              <a:off x="3657600" y="5056632"/>
              <a:ext cx="113385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F80B7"/>
                  </a:solidFill>
                </a:rPr>
                <a:t>1</a:t>
              </a:r>
              <a:endParaRPr lang="en-US" sz="1500" dirty="0"/>
            </a:p>
          </p:txBody>
        </p:sp>
        <p:sp>
          <p:nvSpPr>
            <p:cNvPr id="63" name="Shape 17">
              <a:extLst>
                <a:ext uri="{FF2B5EF4-FFF2-40B4-BE49-F238E27FC236}">
                  <a16:creationId xmlns:a16="http://schemas.microsoft.com/office/drawing/2014/main" id="{81E35A65-0149-04E5-FA1F-FA980C506355}"/>
                </a:ext>
              </a:extLst>
            </p:cNvPr>
            <p:cNvSpPr/>
            <p:nvPr/>
          </p:nvSpPr>
          <p:spPr>
            <a:xfrm>
              <a:off x="5020056" y="4709160"/>
              <a:ext cx="1554480" cy="713232"/>
            </a:xfrm>
            <a:prstGeom prst="roundRect">
              <a:avLst>
                <a:gd name="adj" fmla="val 7692"/>
              </a:avLst>
            </a:prstGeom>
            <a:solidFill>
              <a:srgbClr val="F8FBFD"/>
            </a:solidFill>
            <a:ln w="8890">
              <a:solidFill>
                <a:srgbClr val="D0E4F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 18">
              <a:extLst>
                <a:ext uri="{FF2B5EF4-FFF2-40B4-BE49-F238E27FC236}">
                  <a16:creationId xmlns:a16="http://schemas.microsoft.com/office/drawing/2014/main" id="{39EEBA35-07C2-B8C1-8BB5-37F62AB6559D}"/>
                </a:ext>
              </a:extLst>
            </p:cNvPr>
            <p:cNvSpPr/>
            <p:nvPr/>
          </p:nvSpPr>
          <p:spPr>
            <a:xfrm>
              <a:off x="5093208" y="4782312"/>
              <a:ext cx="140817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5D6B78"/>
                  </a:solidFill>
                </a:rPr>
                <a:t>Experimente</a:t>
              </a:r>
              <a:endParaRPr lang="en-US" sz="850" dirty="0"/>
            </a:p>
          </p:txBody>
        </p:sp>
        <p:sp>
          <p:nvSpPr>
            <p:cNvPr id="65" name="Text 19">
              <a:extLst>
                <a:ext uri="{FF2B5EF4-FFF2-40B4-BE49-F238E27FC236}">
                  <a16:creationId xmlns:a16="http://schemas.microsoft.com/office/drawing/2014/main" id="{F66E78AF-763B-5F27-7612-352736EC3279}"/>
                </a:ext>
              </a:extLst>
            </p:cNvPr>
            <p:cNvSpPr/>
            <p:nvPr/>
          </p:nvSpPr>
          <p:spPr>
            <a:xfrm>
              <a:off x="5093208" y="5056632"/>
              <a:ext cx="140817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2F80B7"/>
                  </a:solidFill>
                </a:rPr>
                <a:t>7</a:t>
              </a:r>
              <a:endParaRPr lang="en-US" sz="1500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51B8C59-AE63-38F8-05C3-28C4A3F610C3}"/>
              </a:ext>
            </a:extLst>
          </p:cNvPr>
          <p:cNvSpPr txBox="1"/>
          <p:nvPr/>
        </p:nvSpPr>
        <p:spPr>
          <a:xfrm>
            <a:off x="85344" y="6034730"/>
            <a:ext cx="4437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Dumitrescu Malina, Arthur </a:t>
            </a:r>
            <a:r>
              <a:rPr lang="en-US" dirty="0" err="1"/>
              <a:t>Horeanu</a:t>
            </a:r>
            <a:r>
              <a:rPr lang="en-US" dirty="0"/>
              <a:t>, Alexia Voina, Janine </a:t>
            </a:r>
            <a:r>
              <a:rPr lang="en-US" dirty="0" err="1"/>
              <a:t>Vartolomei</a:t>
            </a:r>
            <a:r>
              <a:rPr lang="en-US" dirty="0"/>
              <a:t>, Bogdan Rista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1. Modell und Jupyter-Code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Die Folien enthalten die gleichen Formeln und Experimente wie das Notebook.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253F"/>
                </a:solidFill>
              </a:defRPr>
            </a:pPr>
            <a:r>
              <a:t>Ohne Drift:   Xₜ = Xₜ₋₁ + εₜ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800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32D"/>
                </a:solidFill>
              </a:defRPr>
            </a:pPr>
            <a:r>
              <a:t>Mit Drift:      Xₜ = Xₜ₋₁ + μ + εₜ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5166360" cy="2286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0528" y="1307592"/>
            <a:ext cx="494690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3246"/>
                </a:solidFill>
                <a:latin typeface="Consolas"/>
              </a:defRPr>
            </a:pPr>
            <a:r>
              <a:t>def simulate_random_walk(n=200, start=0, sigma=1):</a:t>
            </a:r>
            <a:br/>
            <a:r>
              <a:t>    noise = np.random.normal(0, sigma, n)</a:t>
            </a:r>
            <a:br/>
            <a:r>
              <a:t>    series = np.zeros(n)</a:t>
            </a:r>
            <a:br/>
            <a:r>
              <a:t>    series[0] = start</a:t>
            </a:r>
            <a:br/>
            <a:r>
              <a:t>    for t in range(1, n):</a:t>
            </a:r>
            <a:br/>
            <a:r>
              <a:t>        series[t] = series[t-1] + noise[t]</a:t>
            </a:r>
            <a:br/>
            <a:r>
              <a:t>    return series,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32D"/>
                </a:solidFill>
              </a:defRPr>
            </a:pPr>
            <a:r>
              <a:t>Jeder neue Wert basiert auf dem vorherigen Wert.</a:t>
            </a:r>
          </a:p>
          <a:p>
            <a:pPr>
              <a:spcAft>
                <a:spcPts val="600"/>
              </a:spcAft>
              <a:defRPr sz="1600">
                <a:solidFill>
                  <a:srgbClr val="1E232D"/>
                </a:solidFill>
              </a:defRPr>
            </a:pPr>
            <a:r>
              <a:t>ε_t ist ein zufälliger Schock.</a:t>
            </a:r>
          </a:p>
          <a:p>
            <a:pPr>
              <a:spcAft>
                <a:spcPts val="600"/>
              </a:spcAft>
              <a:defRPr sz="1600">
                <a:solidFill>
                  <a:srgbClr val="1E232D"/>
                </a:solidFill>
              </a:defRPr>
            </a:pPr>
            <a:r>
              <a:t>Der Verlauf kann wie ein Trend aussehen, obwohl er zufällig entsteht.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2336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4133088"/>
            <a:ext cx="12893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4370832"/>
            <a:ext cx="12893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02336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4133088"/>
            <a:ext cx="12893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Länge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4370832"/>
            <a:ext cx="12893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200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402336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85248" y="4133088"/>
            <a:ext cx="12893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85248" y="4370832"/>
            <a:ext cx="12893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2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712263-597E-1A2E-709E-2139CB5F46FC}"/>
              </a:ext>
            </a:extLst>
          </p:cNvPr>
          <p:cNvGrpSpPr/>
          <p:nvPr/>
        </p:nvGrpSpPr>
        <p:grpSpPr>
          <a:xfrm>
            <a:off x="807720" y="4690872"/>
            <a:ext cx="3474720" cy="1207008"/>
            <a:chOff x="6080760" y="2633472"/>
            <a:chExt cx="3474720" cy="1207008"/>
          </a:xfrm>
        </p:grpSpPr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1D643F88-727F-9B71-19A4-B65D4E1000E1}"/>
                </a:ext>
              </a:extLst>
            </p:cNvPr>
            <p:cNvSpPr/>
            <p:nvPr/>
          </p:nvSpPr>
          <p:spPr>
            <a:xfrm>
              <a:off x="6080760" y="2633472"/>
              <a:ext cx="34747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Kumulierte Schocks</a:t>
              </a:r>
              <a:endParaRPr lang="en-US" sz="1050" dirty="0"/>
            </a:p>
          </p:txBody>
        </p:sp>
        <p:sp>
          <p:nvSpPr>
            <p:cNvPr id="24" name="Shape 12">
              <a:extLst>
                <a:ext uri="{FF2B5EF4-FFF2-40B4-BE49-F238E27FC236}">
                  <a16:creationId xmlns:a16="http://schemas.microsoft.com/office/drawing/2014/main" id="{6F2DEE75-758C-28B4-952D-5DA6027EDBF3}"/>
                </a:ext>
              </a:extLst>
            </p:cNvPr>
            <p:cNvSpPr/>
            <p:nvPr/>
          </p:nvSpPr>
          <p:spPr>
            <a:xfrm>
              <a:off x="6080760" y="2880360"/>
              <a:ext cx="3474720" cy="960120"/>
            </a:xfrm>
            <a:prstGeom prst="roundRect">
              <a:avLst>
                <a:gd name="adj" fmla="val 761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" name="Image 2" descr="preencoded.png">
              <a:extLst>
                <a:ext uri="{FF2B5EF4-FFF2-40B4-BE49-F238E27FC236}">
                  <a16:creationId xmlns:a16="http://schemas.microsoft.com/office/drawing/2014/main" id="{54DC4406-E9FE-9470-578B-FEB47FAF2D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45352" y="2990088"/>
              <a:ext cx="3145536" cy="740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2. Experiment 1: Ein einzelner Random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Die Kurve stammt direkt aus der Simulation im Notebook.</a:t>
            </a:r>
          </a:p>
        </p:txBody>
      </p:sp>
      <p:pic>
        <p:nvPicPr>
          <p:cNvPr id="5" name="Picture 4" descr="01_single_random_wal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34440"/>
            <a:ext cx="6583680" cy="3886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1280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53527" y="1527048"/>
            <a:ext cx="10607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7" y="1764792"/>
            <a:ext cx="1060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0.00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417320"/>
            <a:ext cx="1280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16567" y="1527048"/>
            <a:ext cx="10607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Endwert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16567" y="1764792"/>
            <a:ext cx="1060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2B2"/>
                </a:solidFill>
              </a:defRPr>
            </a:pPr>
            <a:r>
              <a:t>-8.65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69880" y="1417320"/>
            <a:ext cx="1280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79607" y="1527048"/>
            <a:ext cx="10607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Minimum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9607" y="1764792"/>
            <a:ext cx="1060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BE4646"/>
                </a:solidFill>
              </a:defRPr>
            </a:pPr>
            <a:r>
              <a:t>-14.02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468880"/>
            <a:ext cx="12801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2578608"/>
            <a:ext cx="10607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Maximum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816352"/>
            <a:ext cx="1060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88755"/>
                </a:solidFill>
              </a:defRPr>
            </a:pPr>
            <a:r>
              <a:t>3.98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703320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32D"/>
                </a:solidFill>
              </a:defRPr>
            </a:pPr>
            <a:r>
              <a:t>Interpretation: Der Pfad wirkt teilweise trendartig, aber der Verlauf entsteht nur durch akkumulierte Zufallsschritte.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E59D0A-6098-D8B0-F477-2DE29A9C0688}"/>
              </a:ext>
            </a:extLst>
          </p:cNvPr>
          <p:cNvGrpSpPr/>
          <p:nvPr/>
        </p:nvGrpSpPr>
        <p:grpSpPr>
          <a:xfrm>
            <a:off x="7886700" y="4631436"/>
            <a:ext cx="3337560" cy="1069848"/>
            <a:chOff x="7543800" y="2724912"/>
            <a:chExt cx="3337560" cy="1069848"/>
          </a:xfrm>
        </p:grpSpPr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19C8C24B-64D4-250F-BD8D-A1356A2B6F8A}"/>
                </a:ext>
              </a:extLst>
            </p:cNvPr>
            <p:cNvSpPr/>
            <p:nvPr/>
          </p:nvSpPr>
          <p:spPr>
            <a:xfrm>
              <a:off x="7543800" y="2724912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Formel</a:t>
              </a:r>
              <a:endParaRPr lang="en-US" sz="105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776E24D5-3F06-4272-ED9C-474852066E36}"/>
                </a:ext>
              </a:extLst>
            </p:cNvPr>
            <p:cNvSpPr/>
            <p:nvPr/>
          </p:nvSpPr>
          <p:spPr>
            <a:xfrm>
              <a:off x="7543800" y="2971800"/>
              <a:ext cx="3337560" cy="822960"/>
            </a:xfrm>
            <a:prstGeom prst="roundRect">
              <a:avLst>
                <a:gd name="adj" fmla="val 888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1" descr="preencoded.png">
              <a:extLst>
                <a:ext uri="{FF2B5EF4-FFF2-40B4-BE49-F238E27FC236}">
                  <a16:creationId xmlns:a16="http://schemas.microsoft.com/office/drawing/2014/main" id="{962603AB-B68C-537B-E928-CAF2C4A2AC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08392" y="3081528"/>
              <a:ext cx="3008376" cy="6035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3. Experiment 2: Mehrere Random-Walk-Pfade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Gleicher Startpunkt, aber sehr unterschiedliche Entwicklungen.</a:t>
            </a:r>
          </a:p>
        </p:txBody>
      </p:sp>
      <p:pic>
        <p:nvPicPr>
          <p:cNvPr id="5" name="Picture 4" descr="02_multiple_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76656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6679" y="141732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32D"/>
                </a:solidFill>
              </a:defRPr>
            </a:pPr>
            <a:r>
              <a:t>Alle Pfade starten bei 0.</a:t>
            </a:r>
          </a:p>
          <a:p>
            <a:pPr>
              <a:spcAft>
                <a:spcPts val="600"/>
              </a:spcAft>
              <a:defRPr sz="1600">
                <a:solidFill>
                  <a:srgbClr val="1E232D"/>
                </a:solidFill>
              </a:defRPr>
            </a:pPr>
            <a:r>
              <a:t>Jeder Pfad nutzt neue zufällige Schocks.</a:t>
            </a:r>
          </a:p>
          <a:p>
            <a:pPr>
              <a:spcAft>
                <a:spcPts val="600"/>
              </a:spcAft>
              <a:defRPr sz="1600">
                <a:solidFill>
                  <a:srgbClr val="1E232D"/>
                </a:solidFill>
              </a:defRPr>
            </a:pPr>
            <a:r>
              <a:t>Langfristig driften die Pfade stark auseinander.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3246120"/>
            <a:ext cx="3566160" cy="123444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36407" y="3319272"/>
            <a:ext cx="3346704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246"/>
                </a:solidFill>
                <a:latin typeface="Consolas"/>
              </a:defRPr>
            </a:pPr>
            <a:r>
              <a:t>for i in range(8):</a:t>
            </a:r>
            <a:br/>
            <a:r>
              <a:t>    series, _ = simulate_random_walk()</a:t>
            </a:r>
            <a:br/>
            <a:r>
              <a:t>    plt.plot(series)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48006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2B2"/>
                </a:solidFill>
              </a:defRPr>
            </a:pPr>
            <a:r>
              <a:t>Message für die Präsentation: Zufall kann scheinbar systematische Muster erzeugen.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60DDADB-9400-9FA9-5698-35E9249E096F}"/>
              </a:ext>
            </a:extLst>
          </p:cNvPr>
          <p:cNvGrpSpPr/>
          <p:nvPr/>
        </p:nvGrpSpPr>
        <p:grpSpPr>
          <a:xfrm>
            <a:off x="2606040" y="5303520"/>
            <a:ext cx="3474720" cy="1207008"/>
            <a:chOff x="7635240" y="2176272"/>
            <a:chExt cx="3474720" cy="1207008"/>
          </a:xfrm>
        </p:grpSpPr>
        <p:sp>
          <p:nvSpPr>
            <p:cNvPr id="12" name="Text 7">
              <a:extLst>
                <a:ext uri="{FF2B5EF4-FFF2-40B4-BE49-F238E27FC236}">
                  <a16:creationId xmlns:a16="http://schemas.microsoft.com/office/drawing/2014/main" id="{6FB33A12-EF39-227A-A550-49368D420A49}"/>
                </a:ext>
              </a:extLst>
            </p:cNvPr>
            <p:cNvSpPr/>
            <p:nvPr/>
          </p:nvSpPr>
          <p:spPr>
            <a:xfrm>
              <a:off x="7635240" y="2176272"/>
              <a:ext cx="34747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Pfad k</a:t>
              </a:r>
              <a:endParaRPr lang="en-US" sz="1050" dirty="0"/>
            </a:p>
          </p:txBody>
        </p:sp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2376B4A8-EDA2-96A3-BB8E-0A82581B94BD}"/>
                </a:ext>
              </a:extLst>
            </p:cNvPr>
            <p:cNvSpPr/>
            <p:nvPr/>
          </p:nvSpPr>
          <p:spPr>
            <a:xfrm>
              <a:off x="7635240" y="2423160"/>
              <a:ext cx="3474720" cy="960120"/>
            </a:xfrm>
            <a:prstGeom prst="roundRect">
              <a:avLst>
                <a:gd name="adj" fmla="val 761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1" descr="preencoded.png">
              <a:extLst>
                <a:ext uri="{FF2B5EF4-FFF2-40B4-BE49-F238E27FC236}">
                  <a16:creationId xmlns:a16="http://schemas.microsoft.com/office/drawing/2014/main" id="{C335C9A9-723A-05C7-4DEC-ADE8C75B47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99832" y="2532888"/>
              <a:ext cx="3145536" cy="740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4. Stationarität: ADF-Test auf dem Random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Der Test zeigt: Die ursprüngliche Reihe ist nicht stationär.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43000"/>
            <a:ext cx="4206240" cy="123444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216152"/>
            <a:ext cx="3986783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246"/>
                </a:solidFill>
                <a:latin typeface="Consolas"/>
              </a:defRPr>
            </a:pPr>
            <a:r>
              <a:t>adf_result = adfuller(df['random_walk'])</a:t>
            </a:r>
            <a:br/>
            <a:r>
              <a:t>print('ADF Statistic:', adf_result[0])</a:t>
            </a:r>
            <a:br/>
            <a:r>
              <a:t>print('p-value:', adf_result[1])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143000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96128" y="1252728"/>
            <a:ext cx="16093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ADF Statistic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128" y="1490472"/>
            <a:ext cx="16093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2B2"/>
                </a:solidFill>
              </a:defRPr>
            </a:pPr>
            <a:r>
              <a:t>-2.3073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143000"/>
            <a:ext cx="18288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7" y="1252728"/>
            <a:ext cx="160934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p-value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7" y="1490472"/>
            <a:ext cx="160934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2872D"/>
                </a:solidFill>
              </a:defRPr>
            </a:pPr>
            <a:r>
              <a:t>0.1696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143000"/>
            <a:ext cx="15544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93807" y="1252728"/>
            <a:ext cx="133502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5% krit.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7" y="1490472"/>
            <a:ext cx="133502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5F6978"/>
                </a:solidFill>
              </a:defRPr>
            </a:pPr>
            <a:r>
              <a:t>-2.8762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107899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29260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253F"/>
                </a:solidFill>
              </a:defRPr>
            </a:pPr>
            <a:r>
              <a:t>Entscheidung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36499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32D"/>
                </a:solidFill>
              </a:defRPr>
            </a:pPr>
            <a:r>
              <a:t>p-value = 0.1696 &gt; 0.05 → Nullhypothese wird nicht verworfen → Random Walk wirkt nicht stationär.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32D"/>
                </a:solidFill>
              </a:defRPr>
            </a:pPr>
            <a:r>
              <a:t>Wichtig für Forecasting: Viele klassische Modelle brauchen stationäre Daten.</a:t>
            </a:r>
          </a:p>
          <a:p>
            <a:pPr>
              <a:spcAft>
                <a:spcPts val="600"/>
              </a:spcAft>
              <a:defRPr sz="1500">
                <a:solidFill>
                  <a:srgbClr val="1E232D"/>
                </a:solidFill>
              </a:defRPr>
            </a:pPr>
            <a:r>
              <a:t>Deshalb wird bei Random Walks oft differenziert.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5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181CB49-90AF-9ED9-8D36-42CAF5F2D3F4}"/>
              </a:ext>
            </a:extLst>
          </p:cNvPr>
          <p:cNvGrpSpPr/>
          <p:nvPr/>
        </p:nvGrpSpPr>
        <p:grpSpPr>
          <a:xfrm>
            <a:off x="1298448" y="5362956"/>
            <a:ext cx="4297680" cy="1024128"/>
            <a:chOff x="594360" y="987552"/>
            <a:chExt cx="4297680" cy="1024128"/>
          </a:xfrm>
        </p:grpSpPr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A5EDB786-5F74-FECE-2FA3-8FE131F0FAEE}"/>
                </a:ext>
              </a:extLst>
            </p:cNvPr>
            <p:cNvSpPr/>
            <p:nvPr/>
          </p:nvSpPr>
          <p:spPr>
            <a:xfrm>
              <a:off x="594360" y="987552"/>
              <a:ext cx="4297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ADF-Test</a:t>
              </a:r>
              <a:endParaRPr lang="en-US" sz="1050" dirty="0"/>
            </a:p>
          </p:txBody>
        </p:sp>
        <p:sp>
          <p:nvSpPr>
            <p:cNvPr id="23" name="Shape 5">
              <a:extLst>
                <a:ext uri="{FF2B5EF4-FFF2-40B4-BE49-F238E27FC236}">
                  <a16:creationId xmlns:a16="http://schemas.microsoft.com/office/drawing/2014/main" id="{86D32065-7EAE-AE03-EEBC-183B3B108C56}"/>
                </a:ext>
              </a:extLst>
            </p:cNvPr>
            <p:cNvSpPr/>
            <p:nvPr/>
          </p:nvSpPr>
          <p:spPr>
            <a:xfrm>
              <a:off x="594360" y="1234440"/>
              <a:ext cx="4297680" cy="777240"/>
            </a:xfrm>
            <a:prstGeom prst="roundRect">
              <a:avLst>
                <a:gd name="adj" fmla="val 9412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0" descr="preencoded.png">
              <a:extLst>
                <a:ext uri="{FF2B5EF4-FFF2-40B4-BE49-F238E27FC236}">
                  <a16:creationId xmlns:a16="http://schemas.microsoft.com/office/drawing/2014/main" id="{7CE227B5-AD98-EA00-F06E-9A346745F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58952" y="1344168"/>
              <a:ext cx="3968496" cy="557784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40A4C9D-4DCD-9504-32CA-AB910279EA35}"/>
              </a:ext>
            </a:extLst>
          </p:cNvPr>
          <p:cNvGrpSpPr/>
          <p:nvPr/>
        </p:nvGrpSpPr>
        <p:grpSpPr>
          <a:xfrm>
            <a:off x="6583680" y="4837176"/>
            <a:ext cx="5074920" cy="1161288"/>
            <a:chOff x="5623560" y="1901952"/>
            <a:chExt cx="5074920" cy="1161288"/>
          </a:xfrm>
        </p:grpSpPr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69561340-49FA-8DD5-165B-8619D4B9D7C5}"/>
                </a:ext>
              </a:extLst>
            </p:cNvPr>
            <p:cNvSpPr/>
            <p:nvPr/>
          </p:nvSpPr>
          <p:spPr>
            <a:xfrm>
              <a:off x="5623560" y="1901952"/>
              <a:ext cx="5074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Entscheidung</a:t>
              </a:r>
              <a:endParaRPr lang="en-US" sz="1050" dirty="0"/>
            </a:p>
          </p:txBody>
        </p:sp>
        <p:sp>
          <p:nvSpPr>
            <p:cNvPr id="27" name="Shape 18">
              <a:extLst>
                <a:ext uri="{FF2B5EF4-FFF2-40B4-BE49-F238E27FC236}">
                  <a16:creationId xmlns:a16="http://schemas.microsoft.com/office/drawing/2014/main" id="{F2787377-8A3C-0F9B-D2CC-C8D3349E33AF}"/>
                </a:ext>
              </a:extLst>
            </p:cNvPr>
            <p:cNvSpPr/>
            <p:nvPr/>
          </p:nvSpPr>
          <p:spPr>
            <a:xfrm>
              <a:off x="5623560" y="2148840"/>
              <a:ext cx="5074920" cy="914400"/>
            </a:xfrm>
            <a:prstGeom prst="roundRect">
              <a:avLst>
                <a:gd name="adj" fmla="val 8000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8" name="Image 1" descr="preencoded.png">
              <a:extLst>
                <a:ext uri="{FF2B5EF4-FFF2-40B4-BE49-F238E27FC236}">
                  <a16:creationId xmlns:a16="http://schemas.microsoft.com/office/drawing/2014/main" id="{144AEE8C-7093-797C-B959-55CE57C2AD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88152" y="2258568"/>
              <a:ext cx="4745736" cy="6949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5. Differencing: Aus Bewegung werden einzelne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Nach dem Differenzieren ist die Reihe deutlich stationärer.</a:t>
            </a:r>
          </a:p>
        </p:txBody>
      </p:sp>
      <p:pic>
        <p:nvPicPr>
          <p:cNvPr id="5" name="Picture 4" descr="03_differen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126480" cy="3794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78040" y="1188720"/>
            <a:ext cx="42976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87768" y="1261872"/>
            <a:ext cx="407822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3246"/>
                </a:solidFill>
                <a:latin typeface="Consolas"/>
              </a:defRPr>
            </a:pPr>
            <a:r>
              <a:t>df['difference'] = df['random_walk'].diff()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33172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33488" y="2441448"/>
            <a:ext cx="15179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ADF ΔX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679191"/>
            <a:ext cx="15179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2B2"/>
                </a:solidFill>
              </a:defRPr>
            </a:pPr>
            <a:r>
              <a:t>-14.69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2331720"/>
            <a:ext cx="1737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90888" y="2441448"/>
            <a:ext cx="15179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p-value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0888" y="2679191"/>
            <a:ext cx="15179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88755"/>
                </a:solidFill>
              </a:defRPr>
            </a:pPr>
            <a:r>
              <a:t>&lt; 0.0001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65760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32D"/>
                </a:solidFill>
              </a:defRPr>
            </a:pPr>
            <a:r>
              <a:t>Interpretation: ΔXₜ ≈ εₜ. Statt kumulierter Bewegung betrachten wir die einzelnen Schocks.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617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2B2"/>
                </a:solidFill>
              </a:defRPr>
            </a:pPr>
            <a:r>
              <a:t>Das ist die Grundidee hinter dem „I“ in ARIMA: Integrated / Differencing.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6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EA933D-F4ED-1256-99FD-049C9257735C}"/>
              </a:ext>
            </a:extLst>
          </p:cNvPr>
          <p:cNvGrpSpPr/>
          <p:nvPr/>
        </p:nvGrpSpPr>
        <p:grpSpPr>
          <a:xfrm>
            <a:off x="1719072" y="5239512"/>
            <a:ext cx="4206240" cy="1207008"/>
            <a:chOff x="6903720" y="804672"/>
            <a:chExt cx="4206240" cy="1207008"/>
          </a:xfrm>
        </p:grpSpPr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F6B3222D-4B55-E591-37C8-8169877AB7CF}"/>
                </a:ext>
              </a:extLst>
            </p:cNvPr>
            <p:cNvSpPr/>
            <p:nvPr/>
          </p:nvSpPr>
          <p:spPr>
            <a:xfrm>
              <a:off x="6903720" y="804672"/>
              <a:ext cx="4206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Differenzierung</a:t>
              </a:r>
              <a:endParaRPr lang="en-US" sz="1050" dirty="0"/>
            </a:p>
          </p:txBody>
        </p:sp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D173714D-0F46-AFE7-76D3-3B46DFE7D51A}"/>
                </a:ext>
              </a:extLst>
            </p:cNvPr>
            <p:cNvSpPr/>
            <p:nvPr/>
          </p:nvSpPr>
          <p:spPr>
            <a:xfrm>
              <a:off x="6903720" y="1051560"/>
              <a:ext cx="4206240" cy="960120"/>
            </a:xfrm>
            <a:prstGeom prst="roundRect">
              <a:avLst>
                <a:gd name="adj" fmla="val 761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1" descr="preencoded.png">
              <a:extLst>
                <a:ext uri="{FF2B5EF4-FFF2-40B4-BE49-F238E27FC236}">
                  <a16:creationId xmlns:a16="http://schemas.microsoft.com/office/drawing/2014/main" id="{C1705C8F-8013-50BE-9DFA-2FE422857F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68312" y="1161288"/>
              <a:ext cx="3877056" cy="740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6. Naive Forecast: Letzter Wert als Prognose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Für Random Walks ist diese einfache Baseline sehr stark.</a:t>
            </a:r>
          </a:p>
        </p:txBody>
      </p:sp>
      <p:pic>
        <p:nvPicPr>
          <p:cNvPr id="5" name="Picture 4" descr="04_naive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583680" cy="39776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43800" y="1234440"/>
            <a:ext cx="3886200" cy="114300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53527" y="1307592"/>
            <a:ext cx="3666744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246"/>
                </a:solidFill>
                <a:latin typeface="Consolas"/>
              </a:defRPr>
            </a:pPr>
            <a:r>
              <a:t>train_size = int(0.8 * n)</a:t>
            </a:r>
            <a:br/>
            <a:r>
              <a:t>naive_forecast = df['random_walk']</a:t>
            </a:r>
            <a:br/>
            <a:r>
              <a:t>    .shift(1).iloc[train_size:]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2743200"/>
            <a:ext cx="3886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4253F"/>
                </a:solidFill>
              </a:defRPr>
            </a:pPr>
            <a:r>
              <a:t>Formel:  X̂_{t+1} = X_t</a:t>
            </a:r>
            <a:br/>
            <a:r>
              <a:t>Der nächste Wert wird als letzter beobachteter Wert geschätzt.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023360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99248" y="4133088"/>
            <a:ext cx="142646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9248" y="4370832"/>
            <a:ext cx="1426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0.7239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4023360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65207" y="4133088"/>
            <a:ext cx="142646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5207" y="4370832"/>
            <a:ext cx="1426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0.9033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7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612A6F-DBAE-9F5E-329A-A5E17034623E}"/>
              </a:ext>
            </a:extLst>
          </p:cNvPr>
          <p:cNvGrpSpPr/>
          <p:nvPr/>
        </p:nvGrpSpPr>
        <p:grpSpPr>
          <a:xfrm>
            <a:off x="2533850" y="5202935"/>
            <a:ext cx="3383280" cy="1161288"/>
            <a:chOff x="7269480" y="804672"/>
            <a:chExt cx="3383280" cy="1161288"/>
          </a:xfrm>
        </p:grpSpPr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33F059D5-AD4C-D26D-6C21-365C0CB194DE}"/>
                </a:ext>
              </a:extLst>
            </p:cNvPr>
            <p:cNvSpPr/>
            <p:nvPr/>
          </p:nvSpPr>
          <p:spPr>
            <a:xfrm>
              <a:off x="7269480" y="804672"/>
              <a:ext cx="33832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Naive Forecast</a:t>
              </a:r>
              <a:endParaRPr lang="en-US" sz="1050" dirty="0"/>
            </a:p>
          </p:txBody>
        </p:sp>
        <p:sp>
          <p:nvSpPr>
            <p:cNvPr id="18" name="Shape 6">
              <a:extLst>
                <a:ext uri="{FF2B5EF4-FFF2-40B4-BE49-F238E27FC236}">
                  <a16:creationId xmlns:a16="http://schemas.microsoft.com/office/drawing/2014/main" id="{4BB864F4-8019-92A1-7E8A-50DFD9E72380}"/>
                </a:ext>
              </a:extLst>
            </p:cNvPr>
            <p:cNvSpPr/>
            <p:nvPr/>
          </p:nvSpPr>
          <p:spPr>
            <a:xfrm>
              <a:off x="7269480" y="1051560"/>
              <a:ext cx="3383280" cy="914400"/>
            </a:xfrm>
            <a:prstGeom prst="roundRect">
              <a:avLst>
                <a:gd name="adj" fmla="val 8000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" name="Image 1" descr="preencoded.png">
              <a:extLst>
                <a:ext uri="{FF2B5EF4-FFF2-40B4-BE49-F238E27FC236}">
                  <a16:creationId xmlns:a16="http://schemas.microsoft.com/office/drawing/2014/main" id="{9CE0DABD-A77A-435B-B454-E6D5845775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434072" y="1161288"/>
              <a:ext cx="3054096" cy="6949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7. Random Walk mit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Ein zusätzlicher Drift modelliert eine durchschnittliche Richtung.</a:t>
            </a:r>
          </a:p>
        </p:txBody>
      </p:sp>
      <p:pic>
        <p:nvPicPr>
          <p:cNvPr id="5" name="Picture 4" descr="05_rw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035040" cy="3749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86600" y="1143000"/>
            <a:ext cx="4434840" cy="146304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96328" y="1216152"/>
            <a:ext cx="4215383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246"/>
                </a:solidFill>
                <a:latin typeface="Consolas"/>
              </a:defRPr>
            </a:pPr>
            <a:r>
              <a:t>for t in range(1, n):</a:t>
            </a:r>
            <a:br/>
            <a:r>
              <a:t>    series[t] = series[t-1] + drift + noise[t]</a:t>
            </a:r>
            <a:br/>
            <a:br/>
            <a:r>
              <a:t>drift = 0.2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2971800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87768" y="3081528"/>
            <a:ext cx="142646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Sim.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3319272"/>
            <a:ext cx="1426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0.2000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2971800"/>
            <a:ext cx="16459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99448" y="3081528"/>
            <a:ext cx="142646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Endwert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3319272"/>
            <a:ext cx="142646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2B2"/>
                </a:solidFill>
              </a:defRPr>
            </a:pPr>
            <a:r>
              <a:t>41.65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4206240"/>
            <a:ext cx="4160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32D"/>
                </a:solidFill>
              </a:defRPr>
            </a:pPr>
            <a:r>
              <a:t>Der Drift ist kein perfekter Trend, aber er verschiebt die erwartete Richtung nach oben oder unten.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8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18739E7-954D-14FA-BE82-6E85E64263FE}"/>
              </a:ext>
            </a:extLst>
          </p:cNvPr>
          <p:cNvGrpSpPr/>
          <p:nvPr/>
        </p:nvGrpSpPr>
        <p:grpSpPr>
          <a:xfrm>
            <a:off x="1444192" y="4997414"/>
            <a:ext cx="4796188" cy="1673352"/>
            <a:chOff x="7360920" y="804672"/>
            <a:chExt cx="3520440" cy="2304288"/>
          </a:xfrm>
        </p:grpSpPr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314829FA-B7F1-045B-F465-C021269C926F}"/>
                </a:ext>
              </a:extLst>
            </p:cNvPr>
            <p:cNvSpPr/>
            <p:nvPr/>
          </p:nvSpPr>
          <p:spPr>
            <a:xfrm>
              <a:off x="7360920" y="804672"/>
              <a:ext cx="35204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Modell mit Drift</a:t>
              </a:r>
              <a:endParaRPr lang="en-US" sz="1050" dirty="0"/>
            </a:p>
          </p:txBody>
        </p:sp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C8362B46-0A1F-8E14-4713-196BE293DEB5}"/>
                </a:ext>
              </a:extLst>
            </p:cNvPr>
            <p:cNvSpPr/>
            <p:nvPr/>
          </p:nvSpPr>
          <p:spPr>
            <a:xfrm>
              <a:off x="7360920" y="1051560"/>
              <a:ext cx="3520440" cy="914400"/>
            </a:xfrm>
            <a:prstGeom prst="roundRect">
              <a:avLst>
                <a:gd name="adj" fmla="val 8000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21" name="Image 1" descr="preencoded.png">
              <a:extLst>
                <a:ext uri="{FF2B5EF4-FFF2-40B4-BE49-F238E27FC236}">
                  <a16:creationId xmlns:a16="http://schemas.microsoft.com/office/drawing/2014/main" id="{485382A4-A925-D542-F259-274D48E129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525512" y="1161288"/>
              <a:ext cx="3191256" cy="694944"/>
            </a:xfrm>
            <a:prstGeom prst="rect">
              <a:avLst/>
            </a:prstGeom>
          </p:spPr>
        </p:pic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F559696C-AD95-D3E1-4E74-7EC0C15761FC}"/>
                </a:ext>
              </a:extLst>
            </p:cNvPr>
            <p:cNvSpPr/>
            <p:nvPr/>
          </p:nvSpPr>
          <p:spPr>
            <a:xfrm>
              <a:off x="7360920" y="1993392"/>
              <a:ext cx="35204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Erwartete Richtung</a:t>
              </a:r>
              <a:endParaRPr lang="en-US" sz="1050" dirty="0"/>
            </a:p>
          </p:txBody>
        </p:sp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B1E41E8F-46BF-52A6-7A0A-4498E0A31644}"/>
                </a:ext>
              </a:extLst>
            </p:cNvPr>
            <p:cNvSpPr/>
            <p:nvPr/>
          </p:nvSpPr>
          <p:spPr>
            <a:xfrm>
              <a:off x="7360920" y="2240280"/>
              <a:ext cx="3520440" cy="868680"/>
            </a:xfrm>
            <a:prstGeom prst="roundRect">
              <a:avLst>
                <a:gd name="adj" fmla="val 8421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2" descr="preencoded.png">
              <a:extLst>
                <a:ext uri="{FF2B5EF4-FFF2-40B4-BE49-F238E27FC236}">
                  <a16:creationId xmlns:a16="http://schemas.microsoft.com/office/drawing/2014/main" id="{BC2FCFB0-B05E-AEB6-CCD1-741A986650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525512" y="2350008"/>
              <a:ext cx="3191256" cy="6492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8. Forecast mit geschätztem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Der Drift wird aus den Trainingsdaten geschätzt und zum letzten Wert addiert.</a:t>
            </a:r>
          </a:p>
        </p:txBody>
      </p:sp>
      <p:pic>
        <p:nvPicPr>
          <p:cNvPr id="5" name="Picture 4" descr="06_drift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44652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60920" y="1143000"/>
            <a:ext cx="4160520" cy="1234440"/>
          </a:xfrm>
          <a:prstGeom prst="rect">
            <a:avLst/>
          </a:prstGeom>
          <a:solidFill>
            <a:srgbClr val="EEF2F7"/>
          </a:solidFill>
          <a:ln w="12700">
            <a:solidFill>
              <a:srgbClr val="D2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70648" y="1216152"/>
            <a:ext cx="3941063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83246"/>
                </a:solidFill>
                <a:latin typeface="Consolas"/>
              </a:defRPr>
            </a:pPr>
            <a:r>
              <a:t>estimated_drift = df_drift['difference']</a:t>
            </a:r>
            <a:br/>
            <a:r>
              <a:t>    .iloc[1:train_size].mean()</a:t>
            </a:r>
            <a:br/>
            <a:r>
              <a:t>forecast = X_t + estimated_drift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278892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62088" y="2898648"/>
            <a:ext cx="15179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μ geschätzt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3136391"/>
            <a:ext cx="15179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2B2"/>
                </a:solidFill>
              </a:defRPr>
            </a:pPr>
            <a:r>
              <a:t>0.1747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40" y="278892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573767" y="2898648"/>
            <a:ext cx="15179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MAE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7" y="3136391"/>
            <a:ext cx="15179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0.6600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840480"/>
            <a:ext cx="1737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67928" y="3950208"/>
            <a:ext cx="15179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4187952"/>
            <a:ext cx="15179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0.8313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89204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8755"/>
                </a:solidFill>
              </a:defRPr>
            </a:pPr>
            <a:r>
              <a:t>Im Experiment ist der Drift-Forecast etwas besser als die naive Variante.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9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42BEF-8CC1-E26E-6C80-C987034A2ED3}"/>
              </a:ext>
            </a:extLst>
          </p:cNvPr>
          <p:cNvGrpSpPr/>
          <p:nvPr/>
        </p:nvGrpSpPr>
        <p:grpSpPr>
          <a:xfrm>
            <a:off x="2267070" y="5094171"/>
            <a:ext cx="3283979" cy="1508760"/>
            <a:chOff x="7223760" y="758952"/>
            <a:chExt cx="3703320" cy="2350008"/>
          </a:xfrm>
        </p:grpSpPr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2B4F5E68-C6D5-D584-FE2E-89247137D637}"/>
                </a:ext>
              </a:extLst>
            </p:cNvPr>
            <p:cNvSpPr/>
            <p:nvPr/>
          </p:nvSpPr>
          <p:spPr>
            <a:xfrm>
              <a:off x="7223760" y="758952"/>
              <a:ext cx="3703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Forecast-Formel</a:t>
              </a:r>
              <a:endParaRPr lang="en-US" sz="1050" dirty="0"/>
            </a:p>
          </p:txBody>
        </p:sp>
        <p:sp>
          <p:nvSpPr>
            <p:cNvPr id="21" name="Shape 6">
              <a:extLst>
                <a:ext uri="{FF2B5EF4-FFF2-40B4-BE49-F238E27FC236}">
                  <a16:creationId xmlns:a16="http://schemas.microsoft.com/office/drawing/2014/main" id="{FE416A00-8CBD-3137-C45E-BD036C698248}"/>
                </a:ext>
              </a:extLst>
            </p:cNvPr>
            <p:cNvSpPr/>
            <p:nvPr/>
          </p:nvSpPr>
          <p:spPr>
            <a:xfrm>
              <a:off x="7223760" y="1005840"/>
              <a:ext cx="3703320" cy="896112"/>
            </a:xfrm>
            <a:prstGeom prst="roundRect">
              <a:avLst>
                <a:gd name="adj" fmla="val 8163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Image 1" descr="preencoded.png">
              <a:extLst>
                <a:ext uri="{FF2B5EF4-FFF2-40B4-BE49-F238E27FC236}">
                  <a16:creationId xmlns:a16="http://schemas.microsoft.com/office/drawing/2014/main" id="{B058685F-10D9-7C50-B80E-AED81EA303F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88352" y="1115568"/>
              <a:ext cx="3374136" cy="676656"/>
            </a:xfrm>
            <a:prstGeom prst="rect">
              <a:avLst/>
            </a:prstGeom>
          </p:spPr>
        </p:pic>
        <p:sp>
          <p:nvSpPr>
            <p:cNvPr id="24" name="Text 7">
              <a:extLst>
                <a:ext uri="{FF2B5EF4-FFF2-40B4-BE49-F238E27FC236}">
                  <a16:creationId xmlns:a16="http://schemas.microsoft.com/office/drawing/2014/main" id="{176177FB-8D44-DD0A-31FA-2C11A57D7F9E}"/>
                </a:ext>
              </a:extLst>
            </p:cNvPr>
            <p:cNvSpPr/>
            <p:nvPr/>
          </p:nvSpPr>
          <p:spPr>
            <a:xfrm>
              <a:off x="7223760" y="1901952"/>
              <a:ext cx="3703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Drift-Schätzung</a:t>
              </a:r>
              <a:endParaRPr lang="en-US" sz="1050" dirty="0"/>
            </a:p>
          </p:txBody>
        </p:sp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94164F6A-92C8-12D5-0493-303A38E7E6E8}"/>
                </a:ext>
              </a:extLst>
            </p:cNvPr>
            <p:cNvSpPr/>
            <p:nvPr/>
          </p:nvSpPr>
          <p:spPr>
            <a:xfrm>
              <a:off x="7223760" y="2148840"/>
              <a:ext cx="3703320" cy="960120"/>
            </a:xfrm>
            <a:prstGeom prst="roundRect">
              <a:avLst>
                <a:gd name="adj" fmla="val 761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" name="Image 2" descr="preencoded.png">
              <a:extLst>
                <a:ext uri="{FF2B5EF4-FFF2-40B4-BE49-F238E27FC236}">
                  <a16:creationId xmlns:a16="http://schemas.microsoft.com/office/drawing/2014/main" id="{ECDC7936-3CC2-8683-C838-64D221A76D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88352" y="2258568"/>
              <a:ext cx="3374136" cy="7406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9. Langfristige Unsicherheit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200 zukünftige Pfade zeigen: Der Prognosebereich wird breiter.</a:t>
            </a:r>
          </a:p>
        </p:txBody>
      </p:sp>
      <p:pic>
        <p:nvPicPr>
          <p:cNvPr id="5" name="Picture 4" descr="08_long_term_uncertain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6629400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32588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44967" y="1435607"/>
            <a:ext cx="12893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Startwert t=200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4967" y="1673352"/>
            <a:ext cx="12893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B62B2"/>
                </a:solidFill>
              </a:defRPr>
            </a:pPr>
            <a:r>
              <a:t>-8.65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32588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82328" y="1435607"/>
            <a:ext cx="1289304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8"/>
                </a:solidFill>
              </a:defRPr>
            </a:pPr>
            <a:r>
              <a:t>Mittel t=250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82328" y="1673352"/>
            <a:ext cx="12893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8F8C"/>
                </a:solidFill>
              </a:defRPr>
            </a:pPr>
            <a:r>
              <a:t>-9.46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697480"/>
            <a:ext cx="35661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18120" y="28529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F6978"/>
                </a:solidFill>
              </a:defRPr>
            </a:pPr>
            <a:r>
              <a:t>90%-Simulationsbereich bei t=250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2872D"/>
                </a:solidFill>
              </a:defRPr>
            </a:pPr>
            <a:r>
              <a:t>[-20.49, 1.86]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160520"/>
            <a:ext cx="3886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Kernaussage: Kurzfristig ist der letzte Wert oft brauchbar. Langfristig explodiert die Unsicherheit.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10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05782D1-A274-E8C4-1831-890B80AA8EB9}"/>
              </a:ext>
            </a:extLst>
          </p:cNvPr>
          <p:cNvGrpSpPr/>
          <p:nvPr/>
        </p:nvGrpSpPr>
        <p:grpSpPr>
          <a:xfrm>
            <a:off x="2400300" y="5273040"/>
            <a:ext cx="3200400" cy="1115568"/>
            <a:chOff x="7772400" y="758952"/>
            <a:chExt cx="3200400" cy="1115568"/>
          </a:xfrm>
        </p:grpSpPr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3948F3C3-A76C-21DE-9DCF-D3ECC6763EA9}"/>
                </a:ext>
              </a:extLst>
            </p:cNvPr>
            <p:cNvSpPr/>
            <p:nvPr/>
          </p:nvSpPr>
          <p:spPr>
            <a:xfrm>
              <a:off x="7772400" y="758952"/>
              <a:ext cx="32004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Unsicherheit wächst</a:t>
              </a:r>
              <a:endParaRPr lang="en-US" sz="1050" dirty="0"/>
            </a:p>
          </p:txBody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7EC6D1C9-BC77-D706-A097-F854FD54921D}"/>
                </a:ext>
              </a:extLst>
            </p:cNvPr>
            <p:cNvSpPr/>
            <p:nvPr/>
          </p:nvSpPr>
          <p:spPr>
            <a:xfrm>
              <a:off x="7772400" y="1005840"/>
              <a:ext cx="3200400" cy="868680"/>
            </a:xfrm>
            <a:prstGeom prst="roundRect">
              <a:avLst>
                <a:gd name="adj" fmla="val 8421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7" name="Image 1" descr="preencoded.png">
              <a:extLst>
                <a:ext uri="{FF2B5EF4-FFF2-40B4-BE49-F238E27FC236}">
                  <a16:creationId xmlns:a16="http://schemas.microsoft.com/office/drawing/2014/main" id="{3B9728C9-7627-D1DB-2618-5D35DA063C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36992" y="1115568"/>
              <a:ext cx="2871216" cy="6492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48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53F"/>
                </a:solidFill>
              </a:defRPr>
            </a:pPr>
            <a:r>
              <a:t>10. Fazit: Was zeigen die Experimente?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Die Präsentation basiert auf reproduzierbaren Python-Ergebnissen.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Random Walk = letzter Wert + zufälliger Schock.</a:t>
            </a:r>
          </a:p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Scheinbare Trends können rein zufällig entstehen.</a:t>
            </a:r>
          </a:p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ADF-Test: ursprünglicher Random Walk nicht stationär.</a:t>
            </a:r>
          </a:p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Differencing macht die Reihe stationär(er).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Naive Forecast: MAE = 0.7239, RMSE = 0.9033.</a:t>
            </a:r>
          </a:p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Drift Forecast: μ̂ = 0.1747, RMSE = 0.8313.</a:t>
            </a:r>
          </a:p>
          <a:p>
            <a:pPr>
              <a:spcAft>
                <a:spcPts val="600"/>
              </a:spcAft>
              <a:defRPr sz="1700">
                <a:solidFill>
                  <a:srgbClr val="1E232D"/>
                </a:solidFill>
              </a:defRPr>
            </a:pPr>
            <a:r>
              <a:t>Bei längeren Horizonten werden Prognoseintervalle deutlich breiter.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06240"/>
            <a:ext cx="9326880" cy="914400"/>
          </a:xfrm>
          <a:prstGeom prst="roundRect">
            <a:avLst/>
          </a:prstGeom>
          <a:solidFill>
            <a:srgbClr val="E5F5F4"/>
          </a:solidFill>
          <a:ln w="12700">
            <a:solidFill>
              <a:srgbClr val="A0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91640" y="442569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253F"/>
                </a:solidFill>
              </a:defRPr>
            </a:pPr>
            <a:r>
              <a:t>Kernaussage: Bei Random Walks ist „einfach“ nicht automatisch schlecht - der letzte Wert ist eine starke Baseline.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8F8C"/>
                </a:solidFill>
              </a:defRPr>
            </a:pPr>
            <a:r>
              <a:t>Danke für eure Aufmerksamkeit!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978"/>
                </a:solidFill>
              </a:defRPr>
            </a:pPr>
            <a:r>
              <a:t>Numerik 25/26 · Random Walks · 11</a:t>
            </a:r>
          </a:p>
        </p:txBody>
      </p:sp>
      <p:pic>
        <p:nvPicPr>
          <p:cNvPr id="1026" name="Picture 2" descr="GIFs Danke für Eure Aufmerksamkeit - 30 animierte Bilder kostenlos">
            <a:extLst>
              <a:ext uri="{FF2B5EF4-FFF2-40B4-BE49-F238E27FC236}">
                <a16:creationId xmlns:a16="http://schemas.microsoft.com/office/drawing/2014/main" id="{4CB0E087-1163-1546-4CE1-DA2CF6767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6615" y="4789496"/>
            <a:ext cx="2105080" cy="210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me: &quot;Vielen Dank für Ihre Aufmerksamkeit!&quot; - All Templates - Meme ...">
            <a:extLst>
              <a:ext uri="{FF2B5EF4-FFF2-40B4-BE49-F238E27FC236}">
                <a16:creationId xmlns:a16="http://schemas.microsoft.com/office/drawing/2014/main" id="{1A3DB05B-AD5E-D1D7-21E0-641BF07B6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175" y="4937085"/>
            <a:ext cx="3107555" cy="192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C447C082-4977-650C-0F1D-C6D964A57A56}"/>
              </a:ext>
            </a:extLst>
          </p:cNvPr>
          <p:cNvGrpSpPr/>
          <p:nvPr/>
        </p:nvGrpSpPr>
        <p:grpSpPr>
          <a:xfrm>
            <a:off x="937260" y="2704664"/>
            <a:ext cx="10195560" cy="1069848"/>
            <a:chOff x="685800" y="987552"/>
            <a:chExt cx="10195560" cy="1069848"/>
          </a:xfrm>
        </p:grpSpPr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AD912C3C-E8C3-E083-916E-F66A3C66493E}"/>
                </a:ext>
              </a:extLst>
            </p:cNvPr>
            <p:cNvSpPr/>
            <p:nvPr/>
          </p:nvSpPr>
          <p:spPr>
            <a:xfrm>
              <a:off x="685800" y="987552"/>
              <a:ext cx="3063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Random Walk</a:t>
              </a:r>
              <a:endParaRPr lang="en-US" sz="1050" dirty="0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A7803E2A-B2D6-3C4E-D436-E888A1E7E6AA}"/>
                </a:ext>
              </a:extLst>
            </p:cNvPr>
            <p:cNvSpPr/>
            <p:nvPr/>
          </p:nvSpPr>
          <p:spPr>
            <a:xfrm>
              <a:off x="685800" y="1234440"/>
              <a:ext cx="3063240" cy="822960"/>
            </a:xfrm>
            <a:prstGeom prst="roundRect">
              <a:avLst>
                <a:gd name="adj" fmla="val 888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0" descr="preencoded.png">
              <a:extLst>
                <a:ext uri="{FF2B5EF4-FFF2-40B4-BE49-F238E27FC236}">
                  <a16:creationId xmlns:a16="http://schemas.microsoft.com/office/drawing/2014/main" id="{CE2A2F75-5B30-AA47-B5B6-7E5FB8D8C0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0392" y="1344168"/>
              <a:ext cx="2734056" cy="603504"/>
            </a:xfrm>
            <a:prstGeom prst="rect">
              <a:avLst/>
            </a:prstGeom>
          </p:spPr>
        </p:pic>
        <p:sp>
          <p:nvSpPr>
            <p:cNvPr id="15" name="Text 6">
              <a:extLst>
                <a:ext uri="{FF2B5EF4-FFF2-40B4-BE49-F238E27FC236}">
                  <a16:creationId xmlns:a16="http://schemas.microsoft.com/office/drawing/2014/main" id="{92FDA00D-338E-5AE4-EEC7-B842F6376715}"/>
                </a:ext>
              </a:extLst>
            </p:cNvPr>
            <p:cNvSpPr/>
            <p:nvPr/>
          </p:nvSpPr>
          <p:spPr>
            <a:xfrm>
              <a:off x="4069080" y="987552"/>
              <a:ext cx="306324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Differencing</a:t>
              </a:r>
              <a:endParaRPr lang="en-US" sz="1050" dirty="0"/>
            </a:p>
          </p:txBody>
        </p:sp>
        <p:sp>
          <p:nvSpPr>
            <p:cNvPr id="16" name="Shape 7">
              <a:extLst>
                <a:ext uri="{FF2B5EF4-FFF2-40B4-BE49-F238E27FC236}">
                  <a16:creationId xmlns:a16="http://schemas.microsoft.com/office/drawing/2014/main" id="{F8FECC1C-E1EE-25A9-CF7E-BE017CBFEF7E}"/>
                </a:ext>
              </a:extLst>
            </p:cNvPr>
            <p:cNvSpPr/>
            <p:nvPr/>
          </p:nvSpPr>
          <p:spPr>
            <a:xfrm>
              <a:off x="4069080" y="1234440"/>
              <a:ext cx="3063240" cy="822960"/>
            </a:xfrm>
            <a:prstGeom prst="roundRect">
              <a:avLst>
                <a:gd name="adj" fmla="val 888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" name="Image 1" descr="preencoded.png">
              <a:extLst>
                <a:ext uri="{FF2B5EF4-FFF2-40B4-BE49-F238E27FC236}">
                  <a16:creationId xmlns:a16="http://schemas.microsoft.com/office/drawing/2014/main" id="{F8036D58-1F76-18BF-EEFB-B0CF992EBA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33672" y="1344168"/>
              <a:ext cx="2734056" cy="603504"/>
            </a:xfrm>
            <a:prstGeom prst="rect">
              <a:avLst/>
            </a:prstGeom>
          </p:spPr>
        </p:pic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ECA6B977-1B79-C7D2-3C5A-934D09F256F5}"/>
                </a:ext>
              </a:extLst>
            </p:cNvPr>
            <p:cNvSpPr/>
            <p:nvPr/>
          </p:nvSpPr>
          <p:spPr>
            <a:xfrm>
              <a:off x="7452360" y="987552"/>
              <a:ext cx="342900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2F80B7"/>
                  </a:solidFill>
                </a:rPr>
                <a:t>Forecast</a:t>
              </a:r>
              <a:endParaRPr lang="en-US" sz="1050" dirty="0"/>
            </a:p>
          </p:txBody>
        </p:sp>
        <p:sp>
          <p:nvSpPr>
            <p:cNvPr id="19" name="Shape 9">
              <a:extLst>
                <a:ext uri="{FF2B5EF4-FFF2-40B4-BE49-F238E27FC236}">
                  <a16:creationId xmlns:a16="http://schemas.microsoft.com/office/drawing/2014/main" id="{B9E7B48A-6C5A-729A-69EF-327D3D6BA5F3}"/>
                </a:ext>
              </a:extLst>
            </p:cNvPr>
            <p:cNvSpPr/>
            <p:nvPr/>
          </p:nvSpPr>
          <p:spPr>
            <a:xfrm>
              <a:off x="7452360" y="1234440"/>
              <a:ext cx="3429000" cy="822960"/>
            </a:xfrm>
            <a:prstGeom prst="roundRect">
              <a:avLst>
                <a:gd name="adj" fmla="val 8889"/>
              </a:avLst>
            </a:prstGeom>
            <a:solidFill>
              <a:srgbClr val="F5F9FC"/>
            </a:solidFill>
            <a:ln w="12700">
              <a:solidFill>
                <a:srgbClr val="BFD7E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2" descr="preencoded.png">
              <a:extLst>
                <a:ext uri="{FF2B5EF4-FFF2-40B4-BE49-F238E27FC236}">
                  <a16:creationId xmlns:a16="http://schemas.microsoft.com/office/drawing/2014/main" id="{FE9EEBBF-885F-5044-45E8-878C04E1BA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16952" y="1344168"/>
              <a:ext cx="3099816" cy="6035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1876</Words>
  <Application>Microsoft Office PowerPoint</Application>
  <PresentationFormat>Widescreen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Mălina Dumitrescu</cp:lastModifiedBy>
  <cp:revision>4</cp:revision>
  <dcterms:created xsi:type="dcterms:W3CDTF">2013-01-27T09:14:16Z</dcterms:created>
  <dcterms:modified xsi:type="dcterms:W3CDTF">2026-06-02T16:40:28Z</dcterms:modified>
  <cp:category/>
</cp:coreProperties>
</file>